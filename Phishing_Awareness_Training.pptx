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PHISHING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8892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EDCFA"/>
                </a:solidFill>
              </a:defRPr>
            </a:pPr>
            <a:r>
              <a:t>Recognize • Verify • Report • Stay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7492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Cybersecurity Awareness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Understand what phishing is and why it works.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Recognize suspicious emails, links, attachments, and fake websites.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Identify common social engineering tactics.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Apply practical habits to protect accounts and data.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Practice decision-making with realistic examples and quizzes.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A social-engineering attack designed to trick you into taking an unsafe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828800"/>
          </a:xfrm>
          <a:prstGeom prst="roundRect">
            <a:avLst/>
          </a:prstGeom>
          <a:solidFill>
            <a:srgbClr val="FCEBE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Credential 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7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Attackers imitate trusted services to steal usernames, passwords, or OTPs.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E8F2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2A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Malware 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29967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A malicious attachment or download installs malware or ransomware.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182880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182880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3619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Business Email Compromise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29967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A fake executive, vendor, or colleague asks for money or sensitive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49039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Phishing can arrive through email, SMS, social media, phone calls, QR codes, or messaging apps.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The attacker’s goal is usually to create trust, urgency, fear, curiosity, or confusion.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Anatomy of a Phishing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Look for multiple warning signs—not just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1143000"/>
          </a:xfrm>
          <a:prstGeom prst="roundRect">
            <a:avLst/>
          </a:prstGeom>
          <a:solidFill>
            <a:srgbClr val="FCEBE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11430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44751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1. Suspicious sender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Display name may look familiar, but the actual email domain can be different.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303520" cy="1143000"/>
          </a:xfrm>
          <a:prstGeom prst="roundRect">
            <a:avLst/>
          </a:prstGeom>
          <a:solidFill>
            <a:srgbClr val="FCEBE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73152" cy="114300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44751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2. Urgent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3852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“Act now”, “account suspended”, or “payment overdue” pressures you to act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5303520" cy="1143000"/>
          </a:xfrm>
          <a:prstGeom prst="roundRect">
            <a:avLst/>
          </a:prstGeom>
          <a:solidFill>
            <a:srgbClr val="E8F2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97480"/>
            <a:ext cx="73152" cy="1143000"/>
          </a:xfrm>
          <a:prstGeom prst="rect">
            <a:avLst/>
          </a:prstGeom>
          <a:solidFill>
            <a:srgbClr val="2A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86207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3. Unexpected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5584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Hover over links. Check the real destination before clicking.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697480"/>
            <a:ext cx="5303520" cy="1143000"/>
          </a:xfrm>
          <a:prstGeom prst="roundRect">
            <a:avLst/>
          </a:prstGeom>
          <a:solidFill>
            <a:srgbClr val="E8F2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697480"/>
            <a:ext cx="73152" cy="1143000"/>
          </a:xfrm>
          <a:prstGeom prst="rect">
            <a:avLst/>
          </a:prstGeom>
          <a:solidFill>
            <a:srgbClr val="2A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86207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4. Unexpected attachment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35584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Be cautious with invoices, ZIP files, documents, or executables you did not expect.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5303520" cy="114300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73152" cy="114300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27939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5. Request for 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77316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Legitimate organizations should not ask for passwords, PINs, or OTPs by email.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14800"/>
            <a:ext cx="5303520" cy="114300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4114800"/>
            <a:ext cx="73152" cy="114300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27939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6. Odd wording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77316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Spelling mistakes, unusual greetings, strange formatting, or inconsistent branding can be clues.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How to Spot a Fake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Check the domain carefully: attackers use look-alike domains and misspellings.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Do not trust a padlock alone. HTTPS encrypts the connection; it does not prove the site is legitimate.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Type the known website address yourself or use a trusted bookmark instead of an unexpected link.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Be suspicious if the page asks for a password, OTP, card details, or recovery code unexpectedly.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Look for unusual pop-ups, poor grammar, mismatched logos, or a strange URL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4983480"/>
            <a:ext cx="4206240" cy="82296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0" y="4983480"/>
            <a:ext cx="73152" cy="82296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42048" y="5148072"/>
            <a:ext cx="3840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Golden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048" y="5641848"/>
            <a:ext cx="38404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If you are unsure, stop and verify through an official channel.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Social Engineering Tactics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743200" cy="1325880"/>
          </a:xfrm>
          <a:prstGeom prst="roundRect">
            <a:avLst/>
          </a:prstGeom>
          <a:solidFill>
            <a:srgbClr val="FCEBE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Urgency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92808"/>
            <a:ext cx="23774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“Your account will be locked in 10 minutes.”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234440"/>
            <a:ext cx="2743200" cy="1325880"/>
          </a:xfrm>
          <a:prstGeom prst="roundRect">
            <a:avLst/>
          </a:prstGeom>
          <a:solidFill>
            <a:srgbClr val="E8F2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1234440"/>
            <a:ext cx="73152" cy="1325880"/>
          </a:xfrm>
          <a:prstGeom prst="rect">
            <a:avLst/>
          </a:prstGeom>
          <a:solidFill>
            <a:srgbClr val="2A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139903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892808"/>
            <a:ext cx="23774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Pretending to be a manager, bank, IT team, or government agency.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234440"/>
            <a:ext cx="2743200" cy="1325880"/>
          </a:xfrm>
          <a:prstGeom prst="roundRect">
            <a:avLst/>
          </a:prstGeom>
          <a:solidFill>
            <a:srgbClr val="FCEBE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234440"/>
            <a:ext cx="73152" cy="13258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39903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Fear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1892808"/>
            <a:ext cx="23774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Threats of penalties, account closure, or security incidents.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234440"/>
            <a:ext cx="2057400" cy="132588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64040" y="1234440"/>
            <a:ext cx="73152" cy="132588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5208" y="1399032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Reward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5208" y="1892808"/>
            <a:ext cx="1691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Fake prizes, refunds, bonuses, or exclusive offers.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80360"/>
            <a:ext cx="2743200" cy="1325880"/>
          </a:xfrm>
          <a:prstGeom prst="roundRect">
            <a:avLst/>
          </a:prstGeom>
          <a:solidFill>
            <a:srgbClr val="E8F2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880360"/>
            <a:ext cx="73152" cy="1325880"/>
          </a:xfrm>
          <a:prstGeom prst="rect">
            <a:avLst/>
          </a:prstGeom>
          <a:solidFill>
            <a:srgbClr val="2A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04495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Curiosity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538728"/>
            <a:ext cx="23774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“Confidential salary file” or a surprising attachment.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2880360"/>
            <a:ext cx="2743200" cy="132588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11880" y="2880360"/>
            <a:ext cx="73152" cy="132588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304495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Familiarity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048" y="3538728"/>
            <a:ext cx="23774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Using names, logos, job roles, or details gathered online.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2880360"/>
            <a:ext cx="2743200" cy="1325880"/>
          </a:xfrm>
          <a:prstGeom prst="roundRect">
            <a:avLst/>
          </a:prstGeom>
          <a:solidFill>
            <a:srgbClr val="E8F2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60" y="2880360"/>
            <a:ext cx="73152" cy="1325880"/>
          </a:xfrm>
          <a:prstGeom prst="rect">
            <a:avLst/>
          </a:prstGeom>
          <a:solidFill>
            <a:srgbClr val="2A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9128" y="304495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Reciprocity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3538728"/>
            <a:ext cx="23774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Offering help or a benefit in exchange for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4040" y="2880360"/>
            <a:ext cx="2057400" cy="1325880"/>
          </a:xfrm>
          <a:prstGeom prst="roundRect">
            <a:avLst/>
          </a:prstGeom>
          <a:solidFill>
            <a:srgbClr val="FCEBE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64040" y="2880360"/>
            <a:ext cx="73152" cy="13258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5208" y="3044952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Scarcity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5208" y="3538728"/>
            <a:ext cx="16916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“Only 1 slot left—claim now.”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45920" y="4754880"/>
            <a:ext cx="8869680" cy="82296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45920" y="4754880"/>
            <a:ext cx="73152" cy="82296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47088" y="4919472"/>
            <a:ext cx="85039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Pause Before You 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47088" y="5413248"/>
            <a:ext cx="85039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Phishing succeeds when emotion replaces verification.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Real-World Example: Twitter Attack (2020)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Attackers used social engineering to target employees with access to internal systems.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Employees were persuaded to provide credentials, which helped attackers gain internal access.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Compromised accounts were then used in a cryptocurrency scam involving prominent accounts.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• Lesson: strong technology controls matter, but human verification and least privilege matter too.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4297680"/>
            <a:ext cx="4114800" cy="1051560"/>
          </a:xfrm>
          <a:prstGeom prst="roundRect">
            <a:avLst/>
          </a:prstGeom>
          <a:solidFill>
            <a:srgbClr val="FCEBE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0" y="4297680"/>
            <a:ext cx="73152" cy="10515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33488" y="4462272"/>
            <a:ext cx="37490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4956048"/>
            <a:ext cx="3749039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Never assume a request is safe just because it appears to come from someone with authority.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Best Practices: Protect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29000" cy="1234440"/>
          </a:xfrm>
          <a:prstGeom prst="roundRect">
            <a:avLst/>
          </a:prstGeom>
          <a:solidFill>
            <a:srgbClr val="E8F2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234440"/>
          </a:xfrm>
          <a:prstGeom prst="rect">
            <a:avLst/>
          </a:prstGeom>
          <a:solidFill>
            <a:srgbClr val="2A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Think before clicking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9280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Pause when a message creates urgency or fear.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23444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73152" cy="123444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9903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Verify independently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9280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Contact the person/company using a known phone number or official site.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429000" cy="123444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73152" cy="123444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39903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Use MFA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92808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Multi-factor authentication reduces the damage from stolen passwords.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88920"/>
            <a:ext cx="3429000" cy="1234440"/>
          </a:xfrm>
          <a:prstGeom prst="roundRect">
            <a:avLst/>
          </a:prstGeom>
          <a:solidFill>
            <a:srgbClr val="E8F2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788920"/>
            <a:ext cx="73152" cy="1234440"/>
          </a:xfrm>
          <a:prstGeom prst="rect">
            <a:avLst/>
          </a:prstGeom>
          <a:solidFill>
            <a:srgbClr val="2A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9535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Use strong passwords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47287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Use unique passwords and a reputable password manager.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788920"/>
            <a:ext cx="3429000" cy="1234440"/>
          </a:xfrm>
          <a:prstGeom prst="roundRect">
            <a:avLst/>
          </a:prstGeom>
          <a:solidFill>
            <a:srgbClr val="E8F2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788920"/>
            <a:ext cx="73152" cy="1234440"/>
          </a:xfrm>
          <a:prstGeom prst="rect">
            <a:avLst/>
          </a:prstGeom>
          <a:solidFill>
            <a:srgbClr val="2A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29535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Keep software updated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447287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Security updates patch vulnerabilities attackers may exploit.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788920"/>
            <a:ext cx="3429000" cy="1234440"/>
          </a:xfrm>
          <a:prstGeom prst="roundRect">
            <a:avLst/>
          </a:prstGeom>
          <a:solidFill>
            <a:srgbClr val="FCEBE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788920"/>
            <a:ext cx="73152" cy="123444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295351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Report quickly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447287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If you clicked or shared information, report it immediately—speed matters.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4617720"/>
            <a:ext cx="8503920" cy="82296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4617720"/>
            <a:ext cx="73152" cy="82296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9968" y="478231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Remember: STOP → CHECK → VERIFY →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5276088"/>
            <a:ext cx="81381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A few seconds of caution can prevent a major incident.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Interactive 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You receive: “Your Microsoft 365 password expires today. Click here to keep your account active.”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212080" cy="640080"/>
          </a:xfrm>
          <a:prstGeom prst="roundRect">
            <a:avLst/>
          </a:prstGeom>
          <a:solidFill>
            <a:srgbClr val="F7F9FC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2704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A. Click immediately because the message is urgent.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12080" cy="640080"/>
          </a:xfrm>
          <a:prstGeom prst="roundRect">
            <a:avLst/>
          </a:prstGeom>
          <a:solidFill>
            <a:srgbClr val="F7F9FC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2704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B. Click only if the logo looks correct.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5212080" cy="640080"/>
          </a:xfrm>
          <a:prstGeom prst="roundRect">
            <a:avLst/>
          </a:prstGeom>
          <a:solidFill>
            <a:srgbClr val="E8F7EE"/>
          </a:solidFill>
          <a:ln>
            <a:solidFill>
              <a:srgbClr val="2D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4144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C. Open Microsoft through a trusted bookmark and check the account there.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331720"/>
            <a:ext cx="5212080" cy="640080"/>
          </a:xfrm>
          <a:prstGeom prst="roundRect">
            <a:avLst/>
          </a:prstGeom>
          <a:solidFill>
            <a:srgbClr val="F7F9FC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44144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D. Reply with your current password to confirm your identity.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703320"/>
            <a:ext cx="8138160" cy="114300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3703320"/>
            <a:ext cx="73152" cy="114300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3867911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Correct answer: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43616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Use a known route to the service instead of trusting the message’s link.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Interactive 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A colleague messages: “I’m in a meeting. Please buy gift cards and send me the codes ASAP.”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212080" cy="640080"/>
          </a:xfrm>
          <a:prstGeom prst="roundRect">
            <a:avLst/>
          </a:prstGeom>
          <a:solidFill>
            <a:srgbClr val="F7F9FC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2704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A. Buy them because the request is from a colleague.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12080" cy="640080"/>
          </a:xfrm>
          <a:prstGeom prst="roundRect">
            <a:avLst/>
          </a:prstGeom>
          <a:solidFill>
            <a:srgbClr val="E8F7EE"/>
          </a:solidFill>
          <a:ln>
            <a:solidFill>
              <a:srgbClr val="2D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2704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B. Verify the request using a separate, trusted communication method.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5212080" cy="640080"/>
          </a:xfrm>
          <a:prstGeom prst="roundRect">
            <a:avLst/>
          </a:prstGeom>
          <a:solidFill>
            <a:srgbClr val="F7F9FC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4144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C. Ask for the colleague’s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331720"/>
            <a:ext cx="5212080" cy="640080"/>
          </a:xfrm>
          <a:prstGeom prst="roundRect">
            <a:avLst/>
          </a:prstGeom>
          <a:solidFill>
            <a:srgbClr val="F7F9FC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44144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D. Post the request in a public group.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703320"/>
            <a:ext cx="8138160" cy="114300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3703320"/>
            <a:ext cx="73152" cy="114300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3867911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Correct answer: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43616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This is a classic authority + urgency scam. Verify independently.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Interactive Quiz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</a:defRPr>
            </a:pPr>
            <a:r>
              <a:t>Which is the strongest warning sign?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212080" cy="640080"/>
          </a:xfrm>
          <a:prstGeom prst="roundRect">
            <a:avLst/>
          </a:prstGeom>
          <a:solidFill>
            <a:srgbClr val="F7F9FC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35607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A. The email uses your name.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212080" cy="640080"/>
          </a:xfrm>
          <a:prstGeom prst="roundRect">
            <a:avLst/>
          </a:prstGeom>
          <a:solidFill>
            <a:srgbClr val="F7F9FC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35607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B. The email has the company logo.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5212080" cy="640080"/>
          </a:xfrm>
          <a:prstGeom prst="roundRect">
            <a:avLst/>
          </a:prstGeom>
          <a:solidFill>
            <a:srgbClr val="E8F7EE"/>
          </a:solidFill>
          <a:ln>
            <a:solidFill>
              <a:srgbClr val="2D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5000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C. The sender asks for an OTP and threatens account closure.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212080" cy="640080"/>
          </a:xfrm>
          <a:prstGeom prst="roundRect">
            <a:avLst/>
          </a:prstGeom>
          <a:solidFill>
            <a:srgbClr val="F7F9FC"/>
          </a:solidFill>
          <a:ln>
            <a:solidFill>
              <a:srgbClr val="BE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5000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D. The email arrives during business hours.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3657600"/>
            <a:ext cx="8138160" cy="114300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3657600"/>
            <a:ext cx="73152" cy="114300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3822191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Correct answer: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43159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Requests for authentication secrets plus threats or urgency are major red flags.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What To Do If You Clicked a Phishing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Stop interacting with the message or website.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If you entered a password, change it immediately from the legitimate site and change reused passwords.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If available, revoke suspicious sessions/tokens and contact your IT/security team.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If financial information was shared, contact the relevant bank/payment provider through an official channel.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Report the phishing message to your organization and preserve useful evidence.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• Do not hide the incident—early reporting can prevent wider damage.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PHISHING SAFETY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2011680"/>
            <a:ext cx="4800600" cy="2560320"/>
          </a:xfrm>
          <a:prstGeom prst="roundRect">
            <a:avLst/>
          </a:prstGeom>
          <a:solidFill>
            <a:srgbClr val="23344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2011680"/>
            <a:ext cx="73152" cy="2560320"/>
          </a:xfrm>
          <a:prstGeom prst="rect">
            <a:avLst/>
          </a:prstGeom>
          <a:solidFill>
            <a:srgbClr val="82B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176272"/>
            <a:ext cx="4434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rPr>
                <a:solidFill>
                  <a:srgbClr val="F5F8FC"/>
                </a:solidFill>
              </a:rPr>
              <a:t>Before clicking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670048"/>
            <a:ext cx="4434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rPr>
                <a:solidFill>
                  <a:srgbClr val="F5F8FC"/>
                </a:solidFill>
              </a:rPr>
              <a:t>• Did I expect this message?</a:t>
            </a:r>
            <a:br/>
            <a:r>
              <a:rPr>
                <a:solidFill>
                  <a:srgbClr val="F5F8FC"/>
                </a:solidFill>
              </a:rPr>
              <a:t>• Is the sender/domain genuine?</a:t>
            </a:r>
            <a:br/>
            <a:r>
              <a:rPr>
                <a:solidFill>
                  <a:srgbClr val="F5F8FC"/>
                </a:solidFill>
              </a:rPr>
              <a:t>• Where does the link actually go?</a:t>
            </a:r>
            <a:br/>
            <a:r>
              <a:rPr>
                <a:solidFill>
                  <a:srgbClr val="F5F8FC"/>
                </a:solidFill>
              </a:rPr>
              <a:t>• Is it creating urgency or fear?</a:t>
            </a:r>
            <a:br/>
            <a:r>
              <a:rPr>
                <a:solidFill>
                  <a:srgbClr val="F5F8FC"/>
                </a:solidFill>
              </a:rPr>
              <a:t>• Can I verify it independently?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011680"/>
            <a:ext cx="4800600" cy="2560320"/>
          </a:xfrm>
          <a:prstGeom prst="roundRect">
            <a:avLst/>
          </a:prstGeom>
          <a:solidFill>
            <a:srgbClr val="2D3E3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2011680"/>
            <a:ext cx="73152" cy="2560320"/>
          </a:xfrm>
          <a:prstGeom prst="rect">
            <a:avLst/>
          </a:prstGeom>
          <a:solidFill>
            <a:srgbClr val="6E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2176272"/>
            <a:ext cx="4434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rPr>
                <a:solidFill>
                  <a:srgbClr val="F5F8FC"/>
                </a:solidFill>
              </a:rPr>
              <a:t>If something feels wrong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670048"/>
            <a:ext cx="4434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rPr>
                <a:solidFill>
                  <a:srgbClr val="F5F8FC"/>
                </a:solidFill>
              </a:rPr>
              <a:t>• Stop.</a:t>
            </a:r>
            <a:br/>
            <a:r>
              <a:rPr>
                <a:solidFill>
                  <a:srgbClr val="F5F8FC"/>
                </a:solidFill>
              </a:rPr>
              <a:t>• Do not share passwords or OTPs.</a:t>
            </a:r>
            <a:br/>
            <a:r>
              <a:rPr>
                <a:solidFill>
                  <a:srgbClr val="F5F8FC"/>
                </a:solidFill>
              </a:rPr>
              <a:t>• Verify through a trusted channel.</a:t>
            </a:r>
            <a:br/>
            <a:r>
              <a:rPr>
                <a:solidFill>
                  <a:srgbClr val="F5F8FC"/>
                </a:solidFill>
              </a:rPr>
              <a:t>• Report the message.</a:t>
            </a:r>
            <a:br/>
            <a:r>
              <a:rPr>
                <a:solidFill>
                  <a:srgbClr val="F5F8FC"/>
                </a:solidFill>
              </a:rPr>
              <a:t>• If you made a mistake, report it quickly.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66360"/>
            <a:ext cx="9326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When in doubt: STOP. VERIFY. REPORT.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337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Phishing is a people-focused attack that exploits trust and emotion.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Check the sender, link, request, urgency, and context before acting.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Never share passwords, PINs, OTPs, or recovery codes because an unexpected message asks for them.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Verify unusual requests using a separate trusted channel.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t>• Report suspicious messages and incidents quickly.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983480"/>
            <a:ext cx="8503920" cy="822960"/>
          </a:xfrm>
          <a:prstGeom prst="roundRect">
            <a:avLst/>
          </a:prstGeom>
          <a:solidFill>
            <a:srgbClr val="E8F7EE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4983480"/>
            <a:ext cx="73152" cy="822960"/>
          </a:xfrm>
          <a:prstGeom prst="rect">
            <a:avLst/>
          </a:prstGeom>
          <a:solidFill>
            <a:srgbClr val="2D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29968" y="514807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2337"/>
                </a:solidFill>
              </a:defRPr>
            </a:pPr>
            <a:r>
              <a:t>Final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5641848"/>
            <a:ext cx="81381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82828"/>
                </a:solidFill>
              </a:defRPr>
            </a:pPr>
            <a:r>
              <a:t>Cybersecurity is not only a technology problem—it is a habit.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